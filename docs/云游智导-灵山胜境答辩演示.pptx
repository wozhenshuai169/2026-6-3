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dae869f6874e1c" /><Relationship Type="http://schemas.openxmlformats.org/officeDocument/2006/relationships/extended-properties" Target="/docProps/app.xml" Id="R84a7353e7f654e29" /><Relationship Type="http://schemas.openxmlformats.org/officeDocument/2006/relationships/officeDocument" Target="/ppt/presentation.xml" Id="R329c7e8aefc148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4f2b832a534fef"/>
  </p:sldMasterIdLst>
  <p:notesMasterIdLst>
    <p:notesMasterId xmlns:r="http://schemas.openxmlformats.org/officeDocument/2006/relationships" r:id="R18922d5016f14f7a"/>
  </p:notesMasterIdLst>
  <p:sldIdLst>
    <p:sldId xmlns:r="http://schemas.openxmlformats.org/officeDocument/2006/relationships" id="256" r:id="Rb63102b8e7324f25"/>
    <p:sldId xmlns:r="http://schemas.openxmlformats.org/officeDocument/2006/relationships" id="257" r:id="Rc34637b2f74b4a4d"/>
    <p:sldId xmlns:r="http://schemas.openxmlformats.org/officeDocument/2006/relationships" id="258" r:id="R022e90edf0dc4d62"/>
    <p:sldId xmlns:r="http://schemas.openxmlformats.org/officeDocument/2006/relationships" id="259" r:id="R016867aa9e3240d5"/>
    <p:sldId xmlns:r="http://schemas.openxmlformats.org/officeDocument/2006/relationships" id="260" r:id="Rcf1185a616f340a6"/>
    <p:sldId xmlns:r="http://schemas.openxmlformats.org/officeDocument/2006/relationships" id="261" r:id="R1a02c14efd8f4c32"/>
    <p:sldId xmlns:r="http://schemas.openxmlformats.org/officeDocument/2006/relationships" id="262" r:id="Ra06de9f42cf8462b"/>
    <p:sldId xmlns:r="http://schemas.openxmlformats.org/officeDocument/2006/relationships" id="263" r:id="Rb117b3aa08ac432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5e5ae4bb72456c" /><Relationship Type="http://schemas.openxmlformats.org/officeDocument/2006/relationships/slideMaster" Target="/ppt/slideMasters/slideMaster1.xml" Id="R2b4f2b832a534fef" /><Relationship Type="http://schemas.openxmlformats.org/officeDocument/2006/relationships/notesMaster" Target="/ppt/notesMasters/notesMaster1.xml" Id="R18922d5016f14f7a" /><Relationship Type="http://schemas.openxmlformats.org/officeDocument/2006/relationships/presProps" Target="/ppt/presProps.xml" Id="R85e1a5ac4bb94a52" /><Relationship Type="http://schemas.openxmlformats.org/officeDocument/2006/relationships/tableStyles" Target="/ppt/tableStyles.xml" Id="R02635cb7607c4b8a" /><Relationship Type="http://schemas.openxmlformats.org/officeDocument/2006/relationships/slide" Target="/ppt/slides/slide1.xml" Id="Rb63102b8e7324f25" /><Relationship Type="http://schemas.openxmlformats.org/officeDocument/2006/relationships/slide" Target="/ppt/slides/slide2.xml" Id="Rc34637b2f74b4a4d" /><Relationship Type="http://schemas.openxmlformats.org/officeDocument/2006/relationships/slide" Target="/ppt/slides/slide3.xml" Id="R022e90edf0dc4d62" /><Relationship Type="http://schemas.openxmlformats.org/officeDocument/2006/relationships/slide" Target="/ppt/slides/slide4.xml" Id="R016867aa9e3240d5" /><Relationship Type="http://schemas.openxmlformats.org/officeDocument/2006/relationships/slide" Target="/ppt/slides/slide5.xml" Id="Rcf1185a616f340a6" /><Relationship Type="http://schemas.openxmlformats.org/officeDocument/2006/relationships/slide" Target="/ppt/slides/slide6.xml" Id="R1a02c14efd8f4c32" /><Relationship Type="http://schemas.openxmlformats.org/officeDocument/2006/relationships/slide" Target="/ppt/slides/slide7.xml" Id="Ra06de9f42cf8462b" /><Relationship Type="http://schemas.openxmlformats.org/officeDocument/2006/relationships/slide" Target="/ppt/slides/slide8.xml" Id="Rb117b3aa08ac43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949fbde94f4a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f00b1e6fda4865" /><Relationship Type="http://schemas.openxmlformats.org/officeDocument/2006/relationships/notesMaster" Target="/ppt/notesMasters/notesMaster1.xml" Id="Ra3bd99ad610849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92b94a65074fe9" /><Relationship Type="http://schemas.openxmlformats.org/officeDocument/2006/relationships/notesMaster" Target="/ppt/notesMasters/notesMaster1.xml" Id="R589acc5862304c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dbd7bf8fd34e01" /><Relationship Type="http://schemas.openxmlformats.org/officeDocument/2006/relationships/notesMaster" Target="/ppt/notesMasters/notesMaster1.xml" Id="R3ccbec788bc541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aba876e58e454c" /><Relationship Type="http://schemas.openxmlformats.org/officeDocument/2006/relationships/notesMaster" Target="/ppt/notesMasters/notesMaster1.xml" Id="R841ada85346049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980010eb564f29" /><Relationship Type="http://schemas.openxmlformats.org/officeDocument/2006/relationships/notesMaster" Target="/ppt/notesMasters/notesMaster1.xml" Id="R391d68b41a7745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30b91250d54e5a" /><Relationship Type="http://schemas.openxmlformats.org/officeDocument/2006/relationships/notesMaster" Target="/ppt/notesMasters/notesMaster1.xml" Id="Rc942efc2920946a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7e92011e6b46d7" /><Relationship Type="http://schemas.openxmlformats.org/officeDocument/2006/relationships/notesMaster" Target="/ppt/notesMasters/notesMaster1.xml" Id="R27f1a705f2f446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e1d9c738b041f7" /><Relationship Type="http://schemas.openxmlformats.org/officeDocument/2006/relationships/notesMaster" Target="/ppt/notesMasters/notesMaster1.xml" Id="R9f8cc3ae380141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9ca8811c1247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315599c31447e7" /><Relationship Type="http://schemas.openxmlformats.org/officeDocument/2006/relationships/slideLayout" Target="/ppt/slideLayouts/slideLayout1.xml" Id="R0745cce4678744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45cce4678744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706de3b83f4a53" /><Relationship Type="http://schemas.openxmlformats.org/officeDocument/2006/relationships/image" Target="/ppt/media/image.png" Id="R0e2358aea0af45d9" /><Relationship Type="http://schemas.openxmlformats.org/officeDocument/2006/relationships/image" Target="/ppt/media/image2.png" Id="R30a24dcd6e584259" /><Relationship Type="http://schemas.openxmlformats.org/officeDocument/2006/relationships/notesSlide" Target="/ppt/notesSlides/notesSlide1.xml" Id="Rbca8556132a140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e6246a7c64e9a" /><Relationship Type="http://schemas.openxmlformats.org/officeDocument/2006/relationships/notesSlide" Target="/ppt/notesSlides/notesSlide2.xml" Id="Rfd6d4e68bd424e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a273f61ad646b7" /><Relationship Type="http://schemas.openxmlformats.org/officeDocument/2006/relationships/image" Target="/ppt/media/image3.png" Id="Rad35736dc0af4333" /><Relationship Type="http://schemas.openxmlformats.org/officeDocument/2006/relationships/notesSlide" Target="/ppt/notesSlides/notesSlide3.xml" Id="Rc94a241a4d0849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e63e81606749ed" /><Relationship Type="http://schemas.openxmlformats.org/officeDocument/2006/relationships/image" Target="/ppt/media/image4.png" Id="R0445fe47159a45c9" /><Relationship Type="http://schemas.openxmlformats.org/officeDocument/2006/relationships/notesSlide" Target="/ppt/notesSlides/notesSlide4.xml" Id="R61ffaedd835a43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5e57b3e11b46f6" /><Relationship Type="http://schemas.openxmlformats.org/officeDocument/2006/relationships/notesSlide" Target="/ppt/notesSlides/notesSlide5.xml" Id="Rdc0ff2f56f074d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f0410518644ab3" /><Relationship Type="http://schemas.openxmlformats.org/officeDocument/2006/relationships/notesSlide" Target="/ppt/notesSlides/notesSlide6.xml" Id="R713b5f4128994f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37f6b269df4844" /><Relationship Type="http://schemas.openxmlformats.org/officeDocument/2006/relationships/image" Target="/ppt/media/image5.png" Id="R7070ed6bcdfe4b6e" /><Relationship Type="http://schemas.openxmlformats.org/officeDocument/2006/relationships/image" Target="/ppt/media/image6.png" Id="R2d46c9d8e2e84022" /><Relationship Type="http://schemas.openxmlformats.org/officeDocument/2006/relationships/notesSlide" Target="/ppt/notesSlides/notesSlide7.xml" Id="Rf1c235d921d84b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b2a07ff1574576" /><Relationship Type="http://schemas.openxmlformats.org/officeDocument/2006/relationships/image" Target="/ppt/media/image7.png" Id="R4bc4af6e9b7b4d10" /><Relationship Type="http://schemas.openxmlformats.org/officeDocument/2006/relationships/notesSlide" Target="/ppt/notesSlides/notesSlide8.xml" Id="Rd6ba7fa6842c4b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ox-0-0">
            <a:extLst xmlns:a="http://schemas.openxmlformats.org/drawingml/2006/main">
              <a:ext uri="{FF2B5EF4-FFF2-40B4-BE49-F238E27FC236}">
                <a16:creationId xmlns:a16="http://schemas.microsoft.com/office/drawing/2014/main" id="{6857A5C9-2F27-4C2C-A026-65817AA8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36"/>
          </a:solidFill>
          <a:ln xmlns:a="http://schemas.openxmlformats.org/drawingml/2006/main" w="0">
            <a:solidFill>
              <a:srgbClr val="C95136"/>
            </a:solidFill>
            <a:prstDash val="solid"/>
          </a:ln>
        </p:spPr>
      </p:sp>
      <p:sp>
        <p:nvSpPr>
          <p:cNvPr id="2" name="text-48-42">
            <a:extLst xmlns:a="http://schemas.openxmlformats.org/drawingml/2006/main">
              <a:ext uri="{FF2B5EF4-FFF2-40B4-BE49-F238E27FC236}">
                <a16:creationId xmlns:a16="http://schemas.microsoft.com/office/drawing/2014/main" id="{BC4663F6-B095-4D58-BC24-5D552E23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00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95136"/>
                </a:solidFill>
                <a:latin typeface="Microsoft YaHei"/>
                <a:ea typeface="Microsoft YaHei"/>
                <a:cs typeface="Microsoft YaHei"/>
              </a:defRPr>
            </a:pPr>
            <a:r>
              <a:t>A5 智能导游系统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8A4E539-95CF-42AB-B593-64356961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60960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云游智导</a:t>
            </a:r>
          </a:p>
        </p:txBody>
      </p:sp>
      <p:sp>
        <p:nvSpPr>
          <p:cNvPr id="4" name="text-48-316">
            <a:extLst xmlns:a="http://schemas.openxmlformats.org/drawingml/2006/main">
              <a:ext uri="{FF2B5EF4-FFF2-40B4-BE49-F238E27FC236}">
                <a16:creationId xmlns:a16="http://schemas.microsoft.com/office/drawing/2014/main" id="{B023C461-D916-43FD-96D2-0FE62413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6191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灵山胜境本地交付版</a:t>
            </a:r>
          </a:p>
        </p:txBody>
      </p:sp>
      <p:sp>
        <p:nvSpPr>
          <p:cNvPr id="5" name="text-48-508">
            <a:extLst xmlns:a="http://schemas.openxmlformats.org/drawingml/2006/main">
              <a:ext uri="{FF2B5EF4-FFF2-40B4-BE49-F238E27FC236}">
                <a16:creationId xmlns:a16="http://schemas.microsoft.com/office/drawing/2014/main" id="{5C9A0EAE-B55D-4226-88CB-1C72F826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38700"/>
            <a:ext cx="6572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26262"/>
                </a:solidFill>
                <a:latin typeface="Microsoft YaHei"/>
                <a:ea typeface="Microsoft YaHei"/>
                <a:cs typeface="Microsoft YaHei"/>
              </a:defRPr>
            </a:pPr>
            <a:r>
              <a:t>可信知识 · 多模态交互 · 导游协作 · 移动优先</a:t>
            </a:r>
          </a:p>
        </p:txBody>
      </p:sp>
      <p:sp>
        <p:nvSpPr>
          <p:cNvPr id="6" name="text-48-590">
            <a:extLst xmlns:a="http://schemas.openxmlformats.org/drawingml/2006/main">
              <a:ext uri="{FF2B5EF4-FFF2-40B4-BE49-F238E27FC236}">
                <a16:creationId xmlns:a16="http://schemas.microsoft.com/office/drawing/2014/main" id="{34AC236A-4725-4C50-AD03-12317A08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400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262"/>
                </a:solidFill>
                <a:latin typeface="Microsoft YaHei"/>
                <a:ea typeface="Microsoft YaHei"/>
                <a:cs typeface="Microsoft YaHei"/>
              </a:defRPr>
            </a:pPr>
            <a:r>
              <a:t>2026 软件杯参赛成果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2358aea0af45d9"/>
          <a:stretch xmlns:a="http://schemas.openxmlformats.org/drawingml/2006/main"/>
        </p:blipFill>
        <p:spPr>
          <a:xfrm xmlns:a="http://schemas.openxmlformats.org/drawingml/2006/main">
            <a:off x="7762875" y="1143000"/>
            <a:ext cx="3429000" cy="3429000"/>
          </a:xfrm>
          <a:prstGeom xmlns:a="http://schemas.openxmlformats.org/drawingml/2006/main" prst="roundRect">
            <a:avLst>
              <a:gd name="adj" fmla="val 556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a24dcd6e584259"/>
          <a:stretch xmlns:a="http://schemas.openxmlformats.org/drawingml/2006/main"/>
        </p:blipFill>
        <p:spPr>
          <a:xfrm xmlns:a="http://schemas.openxmlformats.org/drawingml/2006/main">
            <a:off x="7045588" y="3714750"/>
            <a:ext cx="1205973" cy="2609850"/>
          </a:xfrm>
          <a:prstGeom xmlns:a="http://schemas.openxmlformats.org/drawingml/2006/main" prst="roundRect">
            <a:avLst>
              <a:gd name="adj" fmla="val 1205"/>
            </a:avLst>
          </a:prstGeom>
        </p:spPr>
      </p:pic>
    </p:spTree>
    <p:extLst>
      <p:ext uri="{BB962C8B-B14F-4D97-AF65-F5344CB8AC3E}">
        <p14:creationId xmlns:p14="http://schemas.microsoft.com/office/powerpoint/2010/main" val="21431196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42-36">
            <a:extLst xmlns:a="http://schemas.openxmlformats.org/drawingml/2006/main">
              <a:ext uri="{FF2B5EF4-FFF2-40B4-BE49-F238E27FC236}">
                <a16:creationId xmlns:a16="http://schemas.microsoft.com/office/drawing/2014/main" id="{013D1311-CF33-4484-B52D-8EBAD9E2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一个系统同时服务游客、导游与景区管理</a:t>
            </a:r>
          </a:p>
        </p:txBody>
      </p:sp>
      <p:cxnSp>
        <p:nvCxnSpPr>
          <p:cNvPr id="18" name="rule-42-130"/>
          <p:cNvCxnSpPr/>
          <p:nvPr/>
        </p:nvCxnSpPr>
        <p:spPr>
          <a:xfrm xmlns:a="http://schemas.openxmlformats.org/drawingml/2006/main">
            <a:off x="400050" y="1238250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text-42-665">
            <a:extLst xmlns:a="http://schemas.openxmlformats.org/drawingml/2006/main">
              <a:ext uri="{FF2B5EF4-FFF2-40B4-BE49-F238E27FC236}">
                <a16:creationId xmlns:a16="http://schemas.microsoft.com/office/drawing/2014/main" id="{4D0CEAD7-1484-4B59-8373-DDC37DA1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262"/>
                </a:solidFill>
                <a:latin typeface="Microsoft YaHei"/>
                <a:ea typeface="Microsoft YaHei"/>
                <a:cs typeface="Microsoft YaHei"/>
              </a:defRPr>
            </a:pPr>
            <a:r>
              <a:t>云游智导 · 灵山胜境</a:t>
            </a:r>
          </a:p>
        </p:txBody>
      </p:sp>
      <p:sp>
        <p:nvSpPr>
          <p:cNvPr id="4" name="text-1180-665">
            <a:extLst xmlns:a="http://schemas.openxmlformats.org/drawingml/2006/main">
              <a:ext uri="{FF2B5EF4-FFF2-40B4-BE49-F238E27FC236}">
                <a16:creationId xmlns:a16="http://schemas.microsoft.com/office/drawing/2014/main" id="{44733D48-119B-406E-AB31-7098D0D4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262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5" name="box-42-184">
            <a:extLst xmlns:a="http://schemas.openxmlformats.org/drawingml/2006/main">
              <a:ext uri="{FF2B5EF4-FFF2-40B4-BE49-F238E27FC236}">
                <a16:creationId xmlns:a16="http://schemas.microsoft.com/office/drawing/2014/main" id="{53C3B09C-A8FA-4272-BB5E-F8E46B74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5534025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solidFill>
              <a:srgbClr val="F1F1F1"/>
            </a:solidFill>
            <a:prstDash val="solid"/>
          </a:ln>
        </p:spPr>
      </p:sp>
      <p:sp>
        <p:nvSpPr>
          <p:cNvPr id="6" name="text-70-209">
            <a:extLst xmlns:a="http://schemas.openxmlformats.org/drawingml/2006/main">
              <a:ext uri="{FF2B5EF4-FFF2-40B4-BE49-F238E27FC236}">
                <a16:creationId xmlns:a16="http://schemas.microsoft.com/office/drawing/2014/main" id="{3935DBD4-54D6-4D1F-95F1-630C93FD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90725"/>
            <a:ext cx="1428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游客</a:t>
            </a:r>
          </a:p>
        </p:txBody>
      </p:sp>
      <p:sp>
        <p:nvSpPr>
          <p:cNvPr id="7" name="text-70-262">
            <a:extLst xmlns:a="http://schemas.openxmlformats.org/drawingml/2006/main">
              <a:ext uri="{FF2B5EF4-FFF2-40B4-BE49-F238E27FC236}">
                <a16:creationId xmlns:a16="http://schemas.microsoft.com/office/drawing/2014/main" id="{96899932-D5A7-439B-9E68-5C30A376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4953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262"/>
                </a:solidFill>
                <a:latin typeface="Microsoft YaHei"/>
                <a:ea typeface="Microsoft YaHei"/>
                <a:cs typeface="Microsoft YaHei"/>
              </a:defRPr>
            </a:pPr>
            <a:r>
              <a:t>按兴趣、同行人群和体力推荐路线，随时语音或图片提问。</a:t>
            </a:r>
          </a:p>
        </p:txBody>
      </p:sp>
      <p:sp>
        <p:nvSpPr>
          <p:cNvPr id="8" name="box-657-184">
            <a:extLst xmlns:a="http://schemas.openxmlformats.org/drawingml/2006/main">
              <a:ext uri="{FF2B5EF4-FFF2-40B4-BE49-F238E27FC236}">
                <a16:creationId xmlns:a16="http://schemas.microsoft.com/office/drawing/2014/main" id="{247A0A8C-23B8-4B62-91E1-5DB3FAD3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52600"/>
            <a:ext cx="5534025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solidFill>
              <a:srgbClr val="F1F1F1"/>
            </a:solidFill>
            <a:prstDash val="solid"/>
          </a:ln>
        </p:spPr>
      </p:sp>
      <p:sp>
        <p:nvSpPr>
          <p:cNvPr id="9" name="text-685-209">
            <a:extLst xmlns:a="http://schemas.openxmlformats.org/drawingml/2006/main">
              <a:ext uri="{FF2B5EF4-FFF2-40B4-BE49-F238E27FC236}">
                <a16:creationId xmlns:a16="http://schemas.microsoft.com/office/drawing/2014/main" id="{0DA10B0E-57F9-4B92-868A-F0B2C442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990725"/>
            <a:ext cx="1428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导游</a:t>
            </a:r>
          </a:p>
        </p:txBody>
      </p:sp>
      <p:sp>
        <p:nvSpPr>
          <p:cNvPr id="10" name="text-685-262">
            <a:extLst xmlns:a="http://schemas.openxmlformats.org/drawingml/2006/main">
              <a:ext uri="{FF2B5EF4-FFF2-40B4-BE49-F238E27FC236}">
                <a16:creationId xmlns:a16="http://schemas.microsoft.com/office/drawing/2014/main" id="{A2E41E91-B0A2-4097-8E0D-DCC9DA06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95550"/>
            <a:ext cx="4953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262"/>
                </a:solidFill>
                <a:latin typeface="Microsoft YaHei"/>
                <a:ea typeface="Microsoft YaHei"/>
                <a:cs typeface="Microsoft YaHei"/>
              </a:defRPr>
            </a:pPr>
            <a:r>
              <a:t>团队广播与私人问答并行，讲解可暂停、恢复和统一控制。</a:t>
            </a:r>
          </a:p>
        </p:txBody>
      </p:sp>
      <p:sp>
        <p:nvSpPr>
          <p:cNvPr id="11" name="box-42-417">
            <a:extLst xmlns:a="http://schemas.openxmlformats.org/drawingml/2006/main">
              <a:ext uri="{FF2B5EF4-FFF2-40B4-BE49-F238E27FC236}">
                <a16:creationId xmlns:a16="http://schemas.microsoft.com/office/drawing/2014/main" id="{B18FE8A2-3E53-4BAA-83CD-F2F43B11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71925"/>
            <a:ext cx="5534025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solidFill>
              <a:srgbClr val="F1F1F1"/>
            </a:solidFill>
            <a:prstDash val="solid"/>
          </a:ln>
        </p:spPr>
      </p:sp>
      <p:sp>
        <p:nvSpPr>
          <p:cNvPr id="12" name="text-70-442">
            <a:extLst xmlns:a="http://schemas.openxmlformats.org/drawingml/2006/main">
              <a:ext uri="{FF2B5EF4-FFF2-40B4-BE49-F238E27FC236}">
                <a16:creationId xmlns:a16="http://schemas.microsoft.com/office/drawing/2014/main" id="{7021168F-4877-4AF4-AB18-BCAF380A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428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景区</a:t>
            </a:r>
          </a:p>
        </p:txBody>
      </p:sp>
      <p:sp>
        <p:nvSpPr>
          <p:cNvPr id="13" name="text-70-495">
            <a:extLst xmlns:a="http://schemas.openxmlformats.org/drawingml/2006/main">
              <a:ext uri="{FF2B5EF4-FFF2-40B4-BE49-F238E27FC236}">
                <a16:creationId xmlns:a16="http://schemas.microsoft.com/office/drawing/2014/main" id="{F076591E-F9E5-44B4-9667-B76771AD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4953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262"/>
                </a:solidFill>
                <a:latin typeface="Microsoft YaHei"/>
                <a:ea typeface="Microsoft YaHei"/>
                <a:cs typeface="Microsoft YaHei"/>
              </a:defRPr>
            </a:pPr>
            <a:r>
              <a:t>知识、反馈、运营事件和服务状态进入同一管理闭环。</a:t>
            </a:r>
          </a:p>
        </p:txBody>
      </p:sp>
      <p:sp>
        <p:nvSpPr>
          <p:cNvPr id="14" name="box-657-417">
            <a:extLst xmlns:a="http://schemas.openxmlformats.org/drawingml/2006/main">
              <a:ext uri="{FF2B5EF4-FFF2-40B4-BE49-F238E27FC236}">
                <a16:creationId xmlns:a16="http://schemas.microsoft.com/office/drawing/2014/main" id="{AF526131-9705-4FA6-96BB-5057F026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971925"/>
            <a:ext cx="5534025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7E8E1"/>
          </a:solidFill>
          <a:ln xmlns:a="http://schemas.openxmlformats.org/drawingml/2006/main" w="0">
            <a:solidFill>
              <a:srgbClr val="F7E8E1"/>
            </a:solidFill>
            <a:prstDash val="solid"/>
          </a:ln>
        </p:spPr>
      </p:sp>
      <p:sp>
        <p:nvSpPr>
          <p:cNvPr id="15" name="text-685-442">
            <a:extLst xmlns:a="http://schemas.openxmlformats.org/drawingml/2006/main">
              <a:ext uri="{FF2B5EF4-FFF2-40B4-BE49-F238E27FC236}">
                <a16:creationId xmlns:a16="http://schemas.microsoft.com/office/drawing/2014/main" id="{0ABFA6CB-6055-4155-AF23-7ACCBADB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210050"/>
            <a:ext cx="1428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95136"/>
                </a:solidFill>
                <a:latin typeface="Microsoft YaHei"/>
                <a:ea typeface="Microsoft YaHei"/>
                <a:cs typeface="Microsoft YaHei"/>
              </a:defRPr>
            </a:pPr>
            <a:r>
              <a:t>评委</a:t>
            </a:r>
          </a:p>
        </p:txBody>
      </p:sp>
      <p:sp>
        <p:nvSpPr>
          <p:cNvPr id="16" name="text-685-495">
            <a:extLst xmlns:a="http://schemas.openxmlformats.org/drawingml/2006/main">
              <a:ext uri="{FF2B5EF4-FFF2-40B4-BE49-F238E27FC236}">
                <a16:creationId xmlns:a16="http://schemas.microsoft.com/office/drawing/2014/main" id="{84659A5F-479B-4924-ACCA-E29CB67E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714875"/>
            <a:ext cx="4953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262"/>
                </a:solidFill>
                <a:latin typeface="Microsoft YaHei"/>
                <a:ea typeface="Microsoft YaHei"/>
                <a:cs typeface="Microsoft YaHei"/>
              </a:defRPr>
            </a:pPr>
            <a:r>
              <a:t>一台电脑、一条启动命令即可复现；失败状态不伪造结果。</a:t>
            </a:r>
          </a:p>
        </p:txBody>
      </p:sp>
    </p:spTree>
    <p:extLst>
      <p:ext uri="{BB962C8B-B14F-4D97-AF65-F5344CB8AC3E}">
        <p14:creationId xmlns:p14="http://schemas.microsoft.com/office/powerpoint/2010/main" val="18315477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42-36">
            <a:extLst xmlns:a="http://schemas.openxmlformats.org/drawingml/2006/main">
              <a:ext uri="{FF2B5EF4-FFF2-40B4-BE49-F238E27FC236}">
                <a16:creationId xmlns:a16="http://schemas.microsoft.com/office/drawing/2014/main" id="{99F650BC-7D90-4041-AD57-194A6804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主要体验已经适配手机竖屏</a:t>
            </a:r>
          </a:p>
        </p:txBody>
      </p:sp>
      <p:sp>
        <p:nvSpPr>
          <p:cNvPr id="2" name="text-42-190">
            <a:extLst xmlns:a="http://schemas.openxmlformats.org/drawingml/2006/main">
              <a:ext uri="{FF2B5EF4-FFF2-40B4-BE49-F238E27FC236}">
                <a16:creationId xmlns:a16="http://schemas.microsoft.com/office/drawing/2014/main" id="{924E0CBE-AC65-4204-A028-238C88BC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5048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95136"/>
                </a:solidFill>
                <a:latin typeface="Microsoft YaHei"/>
                <a:ea typeface="Microsoft YaHei"/>
                <a:cs typeface="Microsoft YaHei"/>
              </a:defRPr>
            </a:pPr>
            <a:r>
              <a:t>9 个主要页面</a:t>
            </a:r>
          </a:p>
        </p:txBody>
      </p:sp>
      <p:sp>
        <p:nvSpPr>
          <p:cNvPr id="3" name="text-42-260">
            <a:extLst xmlns:a="http://schemas.openxmlformats.org/drawingml/2006/main">
              <a:ext uri="{FF2B5EF4-FFF2-40B4-BE49-F238E27FC236}">
                <a16:creationId xmlns:a16="http://schemas.microsoft.com/office/drawing/2014/main" id="{D3159E47-C42B-434D-9880-75546B0F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50482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游客、推荐、识景、私人助手、导游、知识库、数字人和管理看板均完成 390 × 844 验收。</a:t>
            </a:r>
          </a:p>
        </p:txBody>
      </p:sp>
      <p:sp>
        <p:nvSpPr>
          <p:cNvPr id="4" name="text-42-430">
            <a:extLst xmlns:a="http://schemas.openxmlformats.org/drawingml/2006/main">
              <a:ext uri="{FF2B5EF4-FFF2-40B4-BE49-F238E27FC236}">
                <a16:creationId xmlns:a16="http://schemas.microsoft.com/office/drawing/2014/main" id="{FDF96EE7-26AF-4F2B-8F87-E94056E5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5048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稳定尺寸与响应式约束</a:t>
            </a:r>
          </a:p>
        </p:txBody>
      </p:sp>
      <p:sp>
        <p:nvSpPr>
          <p:cNvPr id="5" name="text-42-486">
            <a:extLst xmlns:a="http://schemas.openxmlformats.org/drawingml/2006/main">
              <a:ext uri="{FF2B5EF4-FFF2-40B4-BE49-F238E27FC236}">
                <a16:creationId xmlns:a16="http://schemas.microsoft.com/office/drawing/2014/main" id="{05FEAB17-B309-49E4-AFFE-CCB6C9F8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50482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6262"/>
                </a:solidFill>
                <a:latin typeface="Microsoft YaHei"/>
                <a:ea typeface="Microsoft YaHei"/>
                <a:cs typeface="Microsoft YaHei"/>
              </a:defRPr>
            </a:pPr>
            <a:r>
              <a:t>底部操作区、表单、导航和数字人预览不会因文本或加载状态挤压布局。</a:t>
            </a:r>
          </a:p>
        </p:txBody>
      </p:sp>
      <p:sp>
        <p:nvSpPr>
          <p:cNvPr id="6" name="text-42-665">
            <a:extLst xmlns:a="http://schemas.openxmlformats.org/drawingml/2006/main">
              <a:ext uri="{FF2B5EF4-FFF2-40B4-BE49-F238E27FC236}">
                <a16:creationId xmlns:a16="http://schemas.microsoft.com/office/drawing/2014/main" id="{63D63CF8-4B78-470A-92F3-576E29DF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262"/>
                </a:solidFill>
                <a:latin typeface="Microsoft YaHei"/>
                <a:ea typeface="Microsoft YaHei"/>
                <a:cs typeface="Microsoft YaHei"/>
              </a:defRPr>
            </a:pPr>
            <a:r>
              <a:t>证据：qa/mobile-portrait/contact-sheet.png</a:t>
            </a:r>
          </a:p>
        </p:txBody>
      </p:sp>
      <p:sp>
        <p:nvSpPr>
          <p:cNvPr id="7" name="text-1180-665">
            <a:extLst xmlns:a="http://schemas.openxmlformats.org/drawingml/2006/main">
              <a:ext uri="{FF2B5EF4-FFF2-40B4-BE49-F238E27FC236}">
                <a16:creationId xmlns:a16="http://schemas.microsoft.com/office/drawing/2014/main" id="{E8A2F843-ED1F-4CCF-927F-A3FF1257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262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35736dc0af4333"/>
          <a:stretch xmlns:a="http://schemas.openxmlformats.org/drawingml/2006/main"/>
        </p:blipFill>
        <p:spPr>
          <a:xfrm xmlns:a="http://schemas.openxmlformats.org/drawingml/2006/main">
            <a:off x="7774005" y="400050"/>
            <a:ext cx="2454239" cy="5600700"/>
          </a:xfrm>
          <a:prstGeom xmlns:a="http://schemas.openxmlformats.org/drawingml/2006/main" prst="roundRect">
            <a:avLst>
              <a:gd name="adj" fmla="val 340"/>
            </a:avLst>
          </a:prstGeom>
        </p:spPr>
      </p:pic>
    </p:spTree>
    <p:extLst>
      <p:ext uri="{BB962C8B-B14F-4D97-AF65-F5344CB8AC3E}">
        <p14:creationId xmlns:p14="http://schemas.microsoft.com/office/powerpoint/2010/main" val="5722619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42-36">
            <a:extLst xmlns:a="http://schemas.openxmlformats.org/drawingml/2006/main">
              <a:ext uri="{FF2B5EF4-FFF2-40B4-BE49-F238E27FC236}">
                <a16:creationId xmlns:a16="http://schemas.microsoft.com/office/drawing/2014/main" id="{9B37C02D-1404-47E9-BD83-F323EF2E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一次提问，串起真实的多模态服务链</a:t>
            </a:r>
          </a:p>
        </p:txBody>
      </p:sp>
      <p:cxnSp>
        <p:nvCxnSpPr>
          <p:cNvPr id="22" name="rule-42-560"/>
          <p:cNvCxnSpPr/>
          <p:nvPr/>
        </p:nvCxnSpPr>
        <p:spPr>
          <a:xfrm xmlns:a="http://schemas.openxmlformats.org/drawingml/2006/main">
            <a:off x="400050" y="5334000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</a:ln>
        </p:spPr>
      </p:cxnSp>
      <p:sp>
        <p:nvSpPr>
          <p:cNvPr id="3" name="text-42-665">
            <a:extLst xmlns:a="http://schemas.openxmlformats.org/drawingml/2006/main">
              <a:ext uri="{FF2B5EF4-FFF2-40B4-BE49-F238E27FC236}">
                <a16:creationId xmlns:a16="http://schemas.microsoft.com/office/drawing/2014/main" id="{ADCC367E-656E-4D9C-B326-463B3568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262"/>
                </a:solidFill>
                <a:latin typeface="Microsoft YaHei"/>
                <a:ea typeface="Microsoft YaHei"/>
                <a:cs typeface="Microsoft YaHei"/>
              </a:defRPr>
            </a:pPr>
            <a:r>
              <a:t>云游智导 · 灵山胜境</a:t>
            </a:r>
          </a:p>
        </p:txBody>
      </p:sp>
      <p:sp>
        <p:nvSpPr>
          <p:cNvPr id="4" name="text-1180-665">
            <a:extLst xmlns:a="http://schemas.openxmlformats.org/drawingml/2006/main">
              <a:ext uri="{FF2B5EF4-FFF2-40B4-BE49-F238E27FC236}">
                <a16:creationId xmlns:a16="http://schemas.microsoft.com/office/drawing/2014/main" id="{11EA8971-2DB9-4522-9756-1DB2BC99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262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5" name="box-42-150">
            <a:extLst xmlns:a="http://schemas.openxmlformats.org/drawingml/2006/main">
              <a:ext uri="{FF2B5EF4-FFF2-40B4-BE49-F238E27FC236}">
                <a16:creationId xmlns:a16="http://schemas.microsoft.com/office/drawing/2014/main" id="{9F0EA694-7381-4DF2-BC75-B0305F41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3562350" cy="360045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solidFill>
              <a:srgbClr val="F1F1F1"/>
            </a:solidFill>
            <a:prstDash val="solid"/>
          </a:ln>
        </p:spPr>
      </p:sp>
      <p:sp>
        <p:nvSpPr>
          <p:cNvPr id="6" name="text-70-180">
            <a:extLst xmlns:a="http://schemas.openxmlformats.org/drawingml/2006/main">
              <a:ext uri="{FF2B5EF4-FFF2-40B4-BE49-F238E27FC236}">
                <a16:creationId xmlns:a16="http://schemas.microsoft.com/office/drawing/2014/main" id="{48D55819-8E00-4B63-8B22-1F38B2C4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66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95136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7" name="text-70-246">
            <a:extLst xmlns:a="http://schemas.openxmlformats.org/drawingml/2006/main">
              <a:ext uri="{FF2B5EF4-FFF2-40B4-BE49-F238E27FC236}">
                <a16:creationId xmlns:a16="http://schemas.microsoft.com/office/drawing/2014/main" id="{50C39215-E692-4CD5-9C29-E1889CDD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听懂</a:t>
            </a:r>
          </a:p>
        </p:txBody>
      </p:sp>
      <p:sp>
        <p:nvSpPr>
          <p:cNvPr id="8" name="text-70-324">
            <a:extLst xmlns:a="http://schemas.openxmlformats.org/drawingml/2006/main">
              <a:ext uri="{FF2B5EF4-FFF2-40B4-BE49-F238E27FC236}">
                <a16:creationId xmlns:a16="http://schemas.microsoft.com/office/drawing/2014/main" id="{EE4EDDAF-F758-4F1B-8A34-64ED6159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29527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262"/>
                </a:solidFill>
                <a:latin typeface="Microsoft YaHei"/>
                <a:ea typeface="Microsoft YaHei"/>
                <a:cs typeface="Microsoft YaHei"/>
              </a:defRPr>
            </a:pPr>
            <a:r>
              <a:t>Qwen ASR 接收本地音频并转写；无置信度时不编造数值。</a:t>
            </a:r>
          </a:p>
        </p:txBody>
      </p:sp>
      <p:sp>
        <p:nvSpPr>
          <p:cNvPr id="9" name="box-42-554">
            <a:extLst xmlns:a="http://schemas.openxmlformats.org/drawingml/2006/main">
              <a:ext uri="{FF2B5EF4-FFF2-40B4-BE49-F238E27FC236}">
                <a16:creationId xmlns:a16="http://schemas.microsoft.com/office/drawing/2014/main" id="{EE44EAA6-C1EC-48F5-8D96-3B3308D3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76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0" name="box-453-150">
            <a:extLst xmlns:a="http://schemas.openxmlformats.org/drawingml/2006/main">
              <a:ext uri="{FF2B5EF4-FFF2-40B4-BE49-F238E27FC236}">
                <a16:creationId xmlns:a16="http://schemas.microsoft.com/office/drawing/2014/main" id="{6799C047-76A6-40DD-B9ED-815C0561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428750"/>
            <a:ext cx="3562350" cy="360045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F7E8E1"/>
          </a:solidFill>
          <a:ln xmlns:a="http://schemas.openxmlformats.org/drawingml/2006/main" w="0">
            <a:solidFill>
              <a:srgbClr val="F7E8E1"/>
            </a:solidFill>
            <a:prstDash val="solid"/>
          </a:ln>
        </p:spPr>
      </p:sp>
      <p:sp>
        <p:nvSpPr>
          <p:cNvPr id="11" name="text-481-180">
            <a:extLst xmlns:a="http://schemas.openxmlformats.org/drawingml/2006/main">
              <a:ext uri="{FF2B5EF4-FFF2-40B4-BE49-F238E27FC236}">
                <a16:creationId xmlns:a16="http://schemas.microsoft.com/office/drawing/2014/main" id="{B981CA96-9B7B-4CFD-AF4D-705111DD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714500"/>
            <a:ext cx="66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95136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2" name="text-481-246">
            <a:extLst xmlns:a="http://schemas.openxmlformats.org/drawingml/2006/main">
              <a:ext uri="{FF2B5EF4-FFF2-40B4-BE49-F238E27FC236}">
                <a16:creationId xmlns:a16="http://schemas.microsoft.com/office/drawing/2014/main" id="{9FFDF41E-2D8E-482B-94B9-64D791C3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343150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答准</a:t>
            </a:r>
          </a:p>
        </p:txBody>
      </p:sp>
      <p:sp>
        <p:nvSpPr>
          <p:cNvPr id="13" name="text-481-324">
            <a:extLst xmlns:a="http://schemas.openxmlformats.org/drawingml/2006/main">
              <a:ext uri="{FF2B5EF4-FFF2-40B4-BE49-F238E27FC236}">
                <a16:creationId xmlns:a16="http://schemas.microsoft.com/office/drawing/2014/main" id="{0A321EE9-FDE5-43EB-B1F3-3F5EF40D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86100"/>
            <a:ext cx="29527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262"/>
                </a:solidFill>
                <a:latin typeface="Microsoft YaHei"/>
                <a:ea typeface="Microsoft YaHei"/>
                <a:cs typeface="Microsoft YaHei"/>
              </a:defRPr>
            </a:pPr>
            <a:r>
              <a:t>本地 RAG 按来源等级检索；动态信息引导查看当日公告。</a:t>
            </a:r>
          </a:p>
        </p:txBody>
      </p:sp>
      <p:sp>
        <p:nvSpPr>
          <p:cNvPr id="14" name="box-453-554">
            <a:extLst xmlns:a="http://schemas.openxmlformats.org/drawingml/2006/main">
              <a:ext uri="{FF2B5EF4-FFF2-40B4-BE49-F238E27FC236}">
                <a16:creationId xmlns:a16="http://schemas.microsoft.com/office/drawing/2014/main" id="{5DEFB50C-D799-4505-AF82-3BF8C951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276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5" name="box-864-150">
            <a:extLst xmlns:a="http://schemas.openxmlformats.org/drawingml/2006/main">
              <a:ext uri="{FF2B5EF4-FFF2-40B4-BE49-F238E27FC236}">
                <a16:creationId xmlns:a16="http://schemas.microsoft.com/office/drawing/2014/main" id="{0F6A9F93-C489-4B99-A248-15B3C471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28750"/>
            <a:ext cx="3562350" cy="360045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solidFill>
              <a:srgbClr val="F1F1F1"/>
            </a:solidFill>
            <a:prstDash val="solid"/>
          </a:ln>
        </p:spPr>
      </p:sp>
      <p:sp>
        <p:nvSpPr>
          <p:cNvPr id="16" name="text-892-180">
            <a:extLst xmlns:a="http://schemas.openxmlformats.org/drawingml/2006/main">
              <a:ext uri="{FF2B5EF4-FFF2-40B4-BE49-F238E27FC236}">
                <a16:creationId xmlns:a16="http://schemas.microsoft.com/office/drawing/2014/main" id="{38DC1501-0B8B-46C9-AC7B-8667B3D8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14500"/>
            <a:ext cx="66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95136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7" name="text-892-246">
            <a:extLst xmlns:a="http://schemas.openxmlformats.org/drawingml/2006/main">
              <a:ext uri="{FF2B5EF4-FFF2-40B4-BE49-F238E27FC236}">
                <a16:creationId xmlns:a16="http://schemas.microsoft.com/office/drawing/2014/main" id="{295C4F32-821E-427A-B078-98626350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43150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说出来</a:t>
            </a:r>
          </a:p>
        </p:txBody>
      </p:sp>
      <p:sp>
        <p:nvSpPr>
          <p:cNvPr id="18" name="text-892-324">
            <a:extLst xmlns:a="http://schemas.openxmlformats.org/drawingml/2006/main">
              <a:ext uri="{FF2B5EF4-FFF2-40B4-BE49-F238E27FC236}">
                <a16:creationId xmlns:a16="http://schemas.microsoft.com/office/drawing/2014/main" id="{CA4A4821-4826-45B8-A61C-D7866F83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86100"/>
            <a:ext cx="29527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262"/>
                </a:solidFill>
                <a:latin typeface="Microsoft YaHei"/>
                <a:ea typeface="Microsoft YaHei"/>
                <a:cs typeface="Microsoft YaHei"/>
              </a:defRPr>
            </a:pPr>
            <a:r>
              <a:t>Edge TTS 播报，男性数字人在开口与闭口帧间实时切换。</a:t>
            </a:r>
          </a:p>
        </p:txBody>
      </p:sp>
      <p:sp>
        <p:nvSpPr>
          <p:cNvPr id="19" name="box-864-554">
            <a:extLst xmlns:a="http://schemas.openxmlformats.org/drawingml/2006/main">
              <a:ext uri="{FF2B5EF4-FFF2-40B4-BE49-F238E27FC236}">
                <a16:creationId xmlns:a16="http://schemas.microsoft.com/office/drawing/2014/main" id="{20C35598-703D-4D14-A99A-FEA87349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276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45fe47159a45c9"/>
          <a:stretch xmlns:a="http://schemas.openxmlformats.org/drawingml/2006/main"/>
        </p:blipFill>
        <p:spPr>
          <a:xfrm xmlns:a="http://schemas.openxmlformats.org/drawingml/2006/main">
            <a:off x="10287000" y="1581150"/>
            <a:ext cx="1066800" cy="1066800"/>
          </a:xfrm>
          <a:prstGeom xmlns:a="http://schemas.openxmlformats.org/drawingml/2006/main" prst="roundRect">
            <a:avLst>
              <a:gd name="adj" fmla="val 1786"/>
            </a:avLst>
          </a:prstGeom>
        </p:spPr>
      </p:pic>
    </p:spTree>
    <p:extLst>
      <p:ext uri="{BB962C8B-B14F-4D97-AF65-F5344CB8AC3E}">
        <p14:creationId xmlns:p14="http://schemas.microsoft.com/office/powerpoint/2010/main" val="7899381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42-36">
            <a:extLst xmlns:a="http://schemas.openxmlformats.org/drawingml/2006/main">
              <a:ext uri="{FF2B5EF4-FFF2-40B4-BE49-F238E27FC236}">
                <a16:creationId xmlns:a16="http://schemas.microsoft.com/office/drawing/2014/main" id="{77A02256-9879-4984-9905-424B6B02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单机架构覆盖完整业务闭环</a:t>
            </a:r>
          </a:p>
        </p:txBody>
      </p:sp>
      <p:sp>
        <p:nvSpPr>
          <p:cNvPr id="2" name="text-42-112">
            <a:extLst xmlns:a="http://schemas.openxmlformats.org/drawingml/2006/main">
              <a:ext uri="{FF2B5EF4-FFF2-40B4-BE49-F238E27FC236}">
                <a16:creationId xmlns:a16="http://schemas.microsoft.com/office/drawing/2014/main" id="{CED490B2-B3E1-4FE7-B591-A5B897F2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0001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262"/>
                </a:solidFill>
                <a:latin typeface="Microsoft YaHei"/>
                <a:ea typeface="Microsoft YaHei"/>
                <a:cs typeface="Microsoft YaHei"/>
              </a:defRPr>
            </a:pPr>
            <a:r>
              <a:t>同源前后端减少评委部署步骤；SQLite、WebSocket 与外部模型均由主服务统一管理。</a:t>
            </a:r>
          </a:p>
        </p:txBody>
      </p:sp>
      <p:cxnSp>
        <p:nvCxnSpPr>
          <p:cNvPr id="22" name="edge-1"/>
          <p:cNvCxnSpPr/>
          <p:nvPr/>
        </p:nvCxnSpPr>
        <p:spPr>
          <a:xfrm xmlns:a="http://schemas.openxmlformats.org/drawingml/2006/main">
            <a:off x="2686050" y="3429000"/>
            <a:ext cx="112395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23" name="edge-2"/>
          <p:cNvCxnSpPr/>
          <p:nvPr/>
        </p:nvCxnSpPr>
        <p:spPr>
          <a:xfrm xmlns:a="http://schemas.openxmlformats.org/drawingml/2006/main">
            <a:off x="5715000" y="3429000"/>
            <a:ext cx="112395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24" name="edge-3"/>
          <p:cNvCxnSpPr/>
          <p:nvPr/>
        </p:nvCxnSpPr>
        <p:spPr>
          <a:xfrm xmlns:a="http://schemas.openxmlformats.org/drawingml/2006/main">
            <a:off x="8743950" y="3429000"/>
            <a:ext cx="112395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6" name="box-42-244">
            <a:extLst xmlns:a="http://schemas.openxmlformats.org/drawingml/2006/main">
              <a:ext uri="{FF2B5EF4-FFF2-40B4-BE49-F238E27FC236}">
                <a16:creationId xmlns:a16="http://schemas.microsoft.com/office/drawing/2014/main" id="{44A7C7E3-A0FC-4226-9790-73FB4562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286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solidFill>
              <a:srgbClr val="F1F1F1"/>
            </a:solidFill>
            <a:prstDash val="solid"/>
          </a:ln>
        </p:spPr>
      </p:sp>
      <p:sp>
        <p:nvSpPr>
          <p:cNvPr id="7" name="box-400-244">
            <a:extLst xmlns:a="http://schemas.openxmlformats.org/drawingml/2006/main">
              <a:ext uri="{FF2B5EF4-FFF2-40B4-BE49-F238E27FC236}">
                <a16:creationId xmlns:a16="http://schemas.microsoft.com/office/drawing/2014/main" id="{B7F93977-2E5D-44C1-9C15-8E534DEA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24100"/>
            <a:ext cx="1905000" cy="2190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E8E1"/>
          </a:solidFill>
          <a:ln xmlns:a="http://schemas.openxmlformats.org/drawingml/2006/main" w="0">
            <a:solidFill>
              <a:srgbClr val="F7E8E1"/>
            </a:solidFill>
            <a:prstDash val="solid"/>
          </a:ln>
        </p:spPr>
      </p:sp>
      <p:sp>
        <p:nvSpPr>
          <p:cNvPr id="8" name="box-718-244">
            <a:extLst xmlns:a="http://schemas.openxmlformats.org/drawingml/2006/main">
              <a:ext uri="{FF2B5EF4-FFF2-40B4-BE49-F238E27FC236}">
                <a16:creationId xmlns:a16="http://schemas.microsoft.com/office/drawing/2014/main" id="{BA1FED13-F6F5-4350-87C8-FF563D98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1905000" cy="2190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solidFill>
              <a:srgbClr val="F1F1F1"/>
            </a:solidFill>
            <a:prstDash val="solid"/>
          </a:ln>
        </p:spPr>
      </p:sp>
      <p:sp>
        <p:nvSpPr>
          <p:cNvPr id="9" name="box-1036-244">
            <a:extLst xmlns:a="http://schemas.openxmlformats.org/drawingml/2006/main">
              <a:ext uri="{FF2B5EF4-FFF2-40B4-BE49-F238E27FC236}">
                <a16:creationId xmlns:a16="http://schemas.microsoft.com/office/drawing/2014/main" id="{79D119D2-C8DA-4374-A164-5270EDD8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24100"/>
            <a:ext cx="1924050" cy="21907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solidFill>
              <a:srgbClr val="F1F1F1"/>
            </a:solidFill>
            <a:prstDash val="solid"/>
          </a:ln>
        </p:spPr>
      </p:sp>
      <p:sp>
        <p:nvSpPr>
          <p:cNvPr id="10" name="text-70-280">
            <a:extLst xmlns:a="http://schemas.openxmlformats.org/drawingml/2006/main">
              <a:ext uri="{FF2B5EF4-FFF2-40B4-BE49-F238E27FC236}">
                <a16:creationId xmlns:a16="http://schemas.microsoft.com/office/drawing/2014/main" id="{F4BC4B64-0F59-41AF-8B57-5DA7A6FF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1752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移动 Web</a:t>
            </a:r>
          </a:p>
        </p:txBody>
      </p:sp>
      <p:sp>
        <p:nvSpPr>
          <p:cNvPr id="11" name="text-70-350">
            <a:extLst xmlns:a="http://schemas.openxmlformats.org/drawingml/2006/main">
              <a:ext uri="{FF2B5EF4-FFF2-40B4-BE49-F238E27FC236}">
                <a16:creationId xmlns:a16="http://schemas.microsoft.com/office/drawing/2014/main" id="{0124762A-BED5-49F5-99C0-91AF9B73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7526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262"/>
                </a:solidFill>
                <a:latin typeface="Microsoft YaHei"/>
                <a:ea typeface="Microsoft YaHei"/>
                <a:cs typeface="Microsoft YaHei"/>
              </a:defRPr>
            </a:pPr>
            <a:r>
              <a:t>9 个竖屏页面
游客 / 导游 / 管理</a:t>
            </a:r>
          </a:p>
        </p:txBody>
      </p:sp>
      <p:sp>
        <p:nvSpPr>
          <p:cNvPr id="12" name="text-428-280">
            <a:extLst xmlns:a="http://schemas.openxmlformats.org/drawingml/2006/main">
              <a:ext uri="{FF2B5EF4-FFF2-40B4-BE49-F238E27FC236}">
                <a16:creationId xmlns:a16="http://schemas.microsoft.com/office/drawing/2014/main" id="{38DD431D-7954-4C93-8EE6-FABE9DF3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667000"/>
            <a:ext cx="1371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FastAPI</a:t>
            </a:r>
          </a:p>
        </p:txBody>
      </p:sp>
      <p:sp>
        <p:nvSpPr>
          <p:cNvPr id="13" name="text-428-350">
            <a:extLst xmlns:a="http://schemas.openxmlformats.org/drawingml/2006/main">
              <a:ext uri="{FF2B5EF4-FFF2-40B4-BE49-F238E27FC236}">
                <a16:creationId xmlns:a16="http://schemas.microsoft.com/office/drawing/2014/main" id="{15BFF462-F6C6-4E47-A58A-3F35C319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333750"/>
            <a:ext cx="13716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262"/>
                </a:solidFill>
                <a:latin typeface="Microsoft YaHei"/>
                <a:ea typeface="Microsoft YaHei"/>
                <a:cs typeface="Microsoft YaHei"/>
              </a:defRPr>
            </a:pPr>
            <a:r>
              <a:t>认证 · API
WebSocket</a:t>
            </a:r>
          </a:p>
        </p:txBody>
      </p:sp>
      <p:sp>
        <p:nvSpPr>
          <p:cNvPr id="14" name="text-746-280">
            <a:extLst xmlns:a="http://schemas.openxmlformats.org/drawingml/2006/main">
              <a:ext uri="{FF2B5EF4-FFF2-40B4-BE49-F238E27FC236}">
                <a16:creationId xmlns:a16="http://schemas.microsoft.com/office/drawing/2014/main" id="{D6851D90-98DB-4E58-A60C-01D9DD8E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67000"/>
            <a:ext cx="1371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本地数据</a:t>
            </a:r>
          </a:p>
        </p:txBody>
      </p:sp>
      <p:sp>
        <p:nvSpPr>
          <p:cNvPr id="15" name="text-746-350">
            <a:extLst xmlns:a="http://schemas.openxmlformats.org/drawingml/2006/main">
              <a:ext uri="{FF2B5EF4-FFF2-40B4-BE49-F238E27FC236}">
                <a16:creationId xmlns:a16="http://schemas.microsoft.com/office/drawing/2014/main" id="{812DC319-5B81-46F6-8A23-7F4B672D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33750"/>
            <a:ext cx="13716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262"/>
                </a:solidFill>
                <a:latin typeface="Microsoft YaHei"/>
                <a:ea typeface="Microsoft YaHei"/>
                <a:cs typeface="Microsoft YaHei"/>
              </a:defRPr>
            </a:pPr>
            <a:r>
              <a:t>SQLite · RAG
上传文件</a:t>
            </a:r>
          </a:p>
        </p:txBody>
      </p:sp>
      <p:sp>
        <p:nvSpPr>
          <p:cNvPr id="16" name="text-1064-280">
            <a:extLst xmlns:a="http://schemas.openxmlformats.org/drawingml/2006/main">
              <a:ext uri="{FF2B5EF4-FFF2-40B4-BE49-F238E27FC236}">
                <a16:creationId xmlns:a16="http://schemas.microsoft.com/office/drawing/2014/main" id="{6CB850E0-C9A9-4D93-A129-57281106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667000"/>
            <a:ext cx="1390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外部能力</a:t>
            </a:r>
          </a:p>
        </p:txBody>
      </p:sp>
      <p:sp>
        <p:nvSpPr>
          <p:cNvPr id="17" name="text-1064-350">
            <a:extLst xmlns:a="http://schemas.openxmlformats.org/drawingml/2006/main">
              <a:ext uri="{FF2B5EF4-FFF2-40B4-BE49-F238E27FC236}">
                <a16:creationId xmlns:a16="http://schemas.microsoft.com/office/drawing/2014/main" id="{9AFC72AD-CA53-46B7-ADCD-D6B66E50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333750"/>
            <a:ext cx="13906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262"/>
                </a:solidFill>
                <a:latin typeface="Microsoft YaHei"/>
                <a:ea typeface="Microsoft YaHei"/>
                <a:cs typeface="Microsoft YaHei"/>
              </a:defRPr>
            </a:pPr>
            <a:r>
              <a:t>LLM · 视觉
ASR · TTS · 地图</a:t>
            </a:r>
          </a:p>
        </p:txBody>
      </p:sp>
      <p:sp>
        <p:nvSpPr>
          <p:cNvPr id="18" name="text-42-665">
            <a:extLst xmlns:a="http://schemas.openxmlformats.org/drawingml/2006/main">
              <a:ext uri="{FF2B5EF4-FFF2-40B4-BE49-F238E27FC236}">
                <a16:creationId xmlns:a16="http://schemas.microsoft.com/office/drawing/2014/main" id="{7F74255B-0405-41DA-B251-1C838261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262"/>
                </a:solidFill>
                <a:latin typeface="Microsoft YaHei"/>
                <a:ea typeface="Microsoft YaHei"/>
                <a:cs typeface="Microsoft YaHei"/>
              </a:defRPr>
            </a:pPr>
            <a:r>
              <a:t>云游智导 · 灵山胜境</a:t>
            </a:r>
          </a:p>
        </p:txBody>
      </p:sp>
      <p:sp>
        <p:nvSpPr>
          <p:cNvPr id="19" name="text-1180-665">
            <a:extLst xmlns:a="http://schemas.openxmlformats.org/drawingml/2006/main">
              <a:ext uri="{FF2B5EF4-FFF2-40B4-BE49-F238E27FC236}">
                <a16:creationId xmlns:a16="http://schemas.microsoft.com/office/drawing/2014/main" id="{D6926AEB-52EC-4BC9-9F86-959CF3D4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262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14881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42-36">
            <a:extLst xmlns:a="http://schemas.openxmlformats.org/drawingml/2006/main">
              <a:ext uri="{FF2B5EF4-FFF2-40B4-BE49-F238E27FC236}">
                <a16:creationId xmlns:a16="http://schemas.microsoft.com/office/drawing/2014/main" id="{E83B85E8-4DD3-4EB3-8631-1165A788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资料包保留，但不等于已核验</a:t>
            </a:r>
          </a:p>
        </p:txBody>
      </p:sp>
      <p:sp>
        <p:nvSpPr>
          <p:cNvPr id="2" name="text-42-118">
            <a:extLst xmlns:a="http://schemas.openxmlformats.org/drawingml/2006/main">
              <a:ext uri="{FF2B5EF4-FFF2-40B4-BE49-F238E27FC236}">
                <a16:creationId xmlns:a16="http://schemas.microsoft.com/office/drawing/2014/main" id="{344D7DAA-DE47-42AE-A758-C109FE77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049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原有拈花湾扩展知识和候选设施位置继续保留；系统重点完善灵山胜境，并通过来源等级、置信度上限和现场核验提示控制风险。</a:t>
            </a:r>
          </a:p>
        </p:txBody>
      </p:sp>
      <p:sp>
        <p:nvSpPr>
          <p:cNvPr id="3" name="text-42-665">
            <a:extLst xmlns:a="http://schemas.openxmlformats.org/drawingml/2006/main">
              <a:ext uri="{FF2B5EF4-FFF2-40B4-BE49-F238E27FC236}">
                <a16:creationId xmlns:a16="http://schemas.microsoft.com/office/drawing/2014/main" id="{A9ED9532-C966-42F1-921A-50C24E4B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262"/>
                </a:solidFill>
                <a:latin typeface="Microsoft YaHei"/>
                <a:ea typeface="Microsoft YaHei"/>
                <a:cs typeface="Microsoft YaHei"/>
              </a:defRPr>
            </a:pPr>
            <a:r>
              <a:t>来源：qa/source-pack/data-quality-report.json · docs/SOURCE_DATA_QUALITY.md</a:t>
            </a:r>
          </a:p>
        </p:txBody>
      </p:sp>
      <p:sp>
        <p:nvSpPr>
          <p:cNvPr id="4" name="text-1180-665">
            <a:extLst xmlns:a="http://schemas.openxmlformats.org/drawingml/2006/main">
              <a:ext uri="{FF2B5EF4-FFF2-40B4-BE49-F238E27FC236}">
                <a16:creationId xmlns:a16="http://schemas.microsoft.com/office/drawing/2014/main" id="{2B02A373-280F-4C84-B38B-C810B2B7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262"/>
                </a:solidFill>
                <a:latin typeface="Microsoft YaHei"/>
                <a:ea typeface="Microsoft YaHei"/>
                <a:cs typeface="Microsoft YaHei"/>
              </a:defRPr>
            </a:pPr>
            <a:r>
              <a:t>06</a:t>
            </a:r>
          </a:p>
        </p:txBody>
      </p:sp>
      <p:sp>
        <p:nvSpPr>
          <p:cNvPr id="5" name="box-42-306">
            <a:extLst xmlns:a="http://schemas.openxmlformats.org/drawingml/2006/main">
              <a:ext uri="{FF2B5EF4-FFF2-40B4-BE49-F238E27FC236}">
                <a16:creationId xmlns:a16="http://schemas.microsoft.com/office/drawing/2014/main" id="{37173C4B-4CAA-47D9-A1D3-0D6F768D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35623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solidFill>
              <a:srgbClr val="F1F1F1"/>
            </a:solidFill>
            <a:prstDash val="solid"/>
          </a:ln>
        </p:spPr>
      </p:sp>
      <p:sp>
        <p:nvSpPr>
          <p:cNvPr id="6" name="text-72-350">
            <a:extLst xmlns:a="http://schemas.openxmlformats.org/drawingml/2006/main">
              <a:ext uri="{FF2B5EF4-FFF2-40B4-BE49-F238E27FC236}">
                <a16:creationId xmlns:a16="http://schemas.microsoft.com/office/drawing/2014/main" id="{9069C625-F924-47FF-9E34-1F05F07C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9908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C95136"/>
                </a:solidFill>
                <a:latin typeface="Microsoft YaHei"/>
                <a:ea typeface="Microsoft YaHei"/>
                <a:cs typeface="Microsoft YaHei"/>
              </a:defRPr>
            </a:pPr>
            <a:r>
              <a:t>0.37%</a:t>
            </a:r>
          </a:p>
        </p:txBody>
      </p:sp>
      <p:sp>
        <p:nvSpPr>
          <p:cNvPr id="7" name="text-72-506">
            <a:extLst xmlns:a="http://schemas.openxmlformats.org/drawingml/2006/main">
              <a:ext uri="{FF2B5EF4-FFF2-40B4-BE49-F238E27FC236}">
                <a16:creationId xmlns:a16="http://schemas.microsoft.com/office/drawing/2014/main" id="{180CA9DD-DC00-4237-99AD-1640FB39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29908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262"/>
                </a:solidFill>
                <a:latin typeface="Microsoft YaHei"/>
                <a:ea typeface="Microsoft YaHei"/>
                <a:cs typeface="Microsoft YaHei"/>
              </a:defRPr>
            </a:pPr>
            <a:r>
              <a:t>Excel 中与灵山相关的记录占比</a:t>
            </a:r>
          </a:p>
        </p:txBody>
      </p:sp>
      <p:sp>
        <p:nvSpPr>
          <p:cNvPr id="8" name="box-453-306">
            <a:extLst xmlns:a="http://schemas.openxmlformats.org/drawingml/2006/main">
              <a:ext uri="{FF2B5EF4-FFF2-40B4-BE49-F238E27FC236}">
                <a16:creationId xmlns:a16="http://schemas.microsoft.com/office/drawing/2014/main" id="{774232EC-22FB-4110-AF35-62F3CF33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914650"/>
            <a:ext cx="35623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solidFill>
              <a:srgbClr val="F1F1F1"/>
            </a:solidFill>
            <a:prstDash val="solid"/>
          </a:ln>
        </p:spPr>
      </p:sp>
      <p:sp>
        <p:nvSpPr>
          <p:cNvPr id="9" name="text-483-350">
            <a:extLst xmlns:a="http://schemas.openxmlformats.org/drawingml/2006/main">
              <a:ext uri="{FF2B5EF4-FFF2-40B4-BE49-F238E27FC236}">
                <a16:creationId xmlns:a16="http://schemas.microsoft.com/office/drawing/2014/main" id="{9B41641E-A0D3-4C91-B658-D99F0F8A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333750"/>
            <a:ext cx="29908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C95136"/>
                </a:solidFill>
                <a:latin typeface="Microsoft YaHei"/>
                <a:ea typeface="Microsoft YaHei"/>
                <a:cs typeface="Microsoft YaHei"/>
              </a:defRPr>
            </a:pPr>
            <a:r>
              <a:t>714</a:t>
            </a:r>
          </a:p>
        </p:txBody>
      </p:sp>
      <p:sp>
        <p:nvSpPr>
          <p:cNvPr id="10" name="text-483-506">
            <a:extLst xmlns:a="http://schemas.openxmlformats.org/drawingml/2006/main">
              <a:ext uri="{FF2B5EF4-FFF2-40B4-BE49-F238E27FC236}">
                <a16:creationId xmlns:a16="http://schemas.microsoft.com/office/drawing/2014/main" id="{2F8B3B78-09FC-4918-8BAB-9CA6469E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819650"/>
            <a:ext cx="29908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262"/>
                </a:solidFill>
                <a:latin typeface="Microsoft YaHei"/>
                <a:ea typeface="Microsoft YaHei"/>
                <a:cs typeface="Microsoft YaHei"/>
              </a:defRPr>
            </a:pPr>
            <a:r>
              <a:t>消费总额与分项之和不一致的记录</a:t>
            </a:r>
          </a:p>
        </p:txBody>
      </p:sp>
      <p:sp>
        <p:nvSpPr>
          <p:cNvPr id="11" name="box-864-306">
            <a:extLst xmlns:a="http://schemas.openxmlformats.org/drawingml/2006/main">
              <a:ext uri="{FF2B5EF4-FFF2-40B4-BE49-F238E27FC236}">
                <a16:creationId xmlns:a16="http://schemas.microsoft.com/office/drawing/2014/main" id="{28CE6597-A37F-4B54-8C41-95FDD69D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14650"/>
            <a:ext cx="35623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7E8E1"/>
          </a:solidFill>
          <a:ln xmlns:a="http://schemas.openxmlformats.org/drawingml/2006/main" w="0">
            <a:solidFill>
              <a:srgbClr val="F7E8E1"/>
            </a:solidFill>
            <a:prstDash val="solid"/>
          </a:ln>
        </p:spPr>
      </p:sp>
      <p:sp>
        <p:nvSpPr>
          <p:cNvPr id="12" name="text-894-350">
            <a:extLst xmlns:a="http://schemas.openxmlformats.org/drawingml/2006/main">
              <a:ext uri="{FF2B5EF4-FFF2-40B4-BE49-F238E27FC236}">
                <a16:creationId xmlns:a16="http://schemas.microsoft.com/office/drawing/2014/main" id="{0EC462FB-BE7C-47C3-B6FC-1B4C432C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33750"/>
            <a:ext cx="29908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C95136"/>
                </a:solidFill>
                <a:latin typeface="Microsoft YaHei"/>
                <a:ea typeface="Microsoft YaHei"/>
                <a:cs typeface="Microsoft YaHei"/>
              </a:defRPr>
            </a:pPr>
            <a:r>
              <a:t>0</a:t>
            </a:r>
          </a:p>
        </p:txBody>
      </p:sp>
      <p:sp>
        <p:nvSpPr>
          <p:cNvPr id="13" name="text-894-506">
            <a:extLst xmlns:a="http://schemas.openxmlformats.org/drawingml/2006/main">
              <a:ext uri="{FF2B5EF4-FFF2-40B4-BE49-F238E27FC236}">
                <a16:creationId xmlns:a16="http://schemas.microsoft.com/office/drawing/2014/main" id="{9EEA6EB8-C9B7-47B1-8294-EAEDDB0F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19650"/>
            <a:ext cx="29908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262"/>
                </a:solidFill>
                <a:latin typeface="Microsoft YaHei"/>
                <a:ea typeface="Microsoft YaHei"/>
                <a:cs typeface="Microsoft YaHei"/>
              </a:defRPr>
            </a:pPr>
            <a:r>
              <a:t>两份 Word 文档中的来源网址</a:t>
            </a:r>
          </a:p>
        </p:txBody>
      </p:sp>
    </p:spTree>
    <p:extLst>
      <p:ext uri="{BB962C8B-B14F-4D97-AF65-F5344CB8AC3E}">
        <p14:creationId xmlns:p14="http://schemas.microsoft.com/office/powerpoint/2010/main" val="1652862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42-36">
            <a:extLst xmlns:a="http://schemas.openxmlformats.org/drawingml/2006/main">
              <a:ext uri="{FF2B5EF4-FFF2-40B4-BE49-F238E27FC236}">
                <a16:creationId xmlns:a16="http://schemas.microsoft.com/office/drawing/2014/main" id="{2C9D52F3-E2F7-405C-8F81-8388298F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交付质量由自动测试与可视证据共同约束</a:t>
            </a:r>
          </a:p>
        </p:txBody>
      </p:sp>
      <p:sp>
        <p:nvSpPr>
          <p:cNvPr id="2" name="text-42-132">
            <a:extLst xmlns:a="http://schemas.openxmlformats.org/drawingml/2006/main">
              <a:ext uri="{FF2B5EF4-FFF2-40B4-BE49-F238E27FC236}">
                <a16:creationId xmlns:a16="http://schemas.microsoft.com/office/drawing/2014/main" id="{F1043626-6E67-4F1A-B77C-8C828FA4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2571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95136"/>
                </a:solidFill>
                <a:latin typeface="Microsoft YaHei"/>
                <a:ea typeface="Microsoft YaHei"/>
                <a:cs typeface="Microsoft YaHei"/>
              </a:defRPr>
            </a:pPr>
            <a:r>
              <a:t>53 passed</a:t>
            </a:r>
          </a:p>
        </p:txBody>
      </p:sp>
      <p:sp>
        <p:nvSpPr>
          <p:cNvPr id="3" name="text-320-142">
            <a:extLst xmlns:a="http://schemas.openxmlformats.org/drawingml/2006/main">
              <a:ext uri="{FF2B5EF4-FFF2-40B4-BE49-F238E27FC236}">
                <a16:creationId xmlns:a16="http://schemas.microsoft.com/office/drawing/2014/main" id="{65C939ED-81C1-4870-A463-3CB506DB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352550"/>
            <a:ext cx="7334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262"/>
                </a:solidFill>
                <a:latin typeface="Microsoft YaHei"/>
                <a:ea typeface="Microsoft YaHei"/>
                <a:cs typeface="Microsoft YaHei"/>
              </a:defRPr>
            </a:pPr>
            <a:r>
              <a:t>1 skipped · 9 页 DOM 契约通过 · 390 × 844 无横向溢出</a:t>
            </a:r>
          </a:p>
        </p:txBody>
      </p:sp>
      <p:sp>
        <p:nvSpPr>
          <p:cNvPr id="4" name="box-42-222">
            <a:extLst xmlns:a="http://schemas.openxmlformats.org/drawingml/2006/main">
              <a:ext uri="{FF2B5EF4-FFF2-40B4-BE49-F238E27FC236}">
                <a16:creationId xmlns:a16="http://schemas.microsoft.com/office/drawing/2014/main" id="{39C45F99-A366-4E70-995A-FFED478E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5524500" cy="384810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solidFill>
              <a:srgbClr val="F1F1F1"/>
            </a:solidFill>
            <a:prstDash val="solid"/>
          </a:ln>
        </p:spPr>
      </p:sp>
      <p:sp>
        <p:nvSpPr>
          <p:cNvPr id="5" name="box-658-222">
            <a:extLst xmlns:a="http://schemas.openxmlformats.org/drawingml/2006/main">
              <a:ext uri="{FF2B5EF4-FFF2-40B4-BE49-F238E27FC236}">
                <a16:creationId xmlns:a16="http://schemas.microsoft.com/office/drawing/2014/main" id="{552D8832-B98B-4521-965E-1913C26C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14550"/>
            <a:ext cx="5524500" cy="384810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solidFill>
              <a:srgbClr val="F1F1F1"/>
            </a:solidFill>
            <a:prstDash val="solid"/>
          </a:ln>
        </p:spPr>
      </p:sp>
      <p:sp>
        <p:nvSpPr>
          <p:cNvPr id="6" name="text-70-246">
            <a:extLst xmlns:a="http://schemas.openxmlformats.org/drawingml/2006/main">
              <a:ext uri="{FF2B5EF4-FFF2-40B4-BE49-F238E27FC236}">
                <a16:creationId xmlns:a16="http://schemas.microsoft.com/office/drawing/2014/main" id="{C9A962F9-D7AB-40A3-8D15-E14EFFD8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90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数字人工作台</a:t>
            </a:r>
          </a:p>
        </p:txBody>
      </p:sp>
      <p:sp>
        <p:nvSpPr>
          <p:cNvPr id="7" name="text-686-246">
            <a:extLst xmlns:a="http://schemas.openxmlformats.org/drawingml/2006/main">
              <a:ext uri="{FF2B5EF4-FFF2-40B4-BE49-F238E27FC236}">
                <a16:creationId xmlns:a16="http://schemas.microsoft.com/office/drawing/2014/main" id="{19F9BF24-DD31-4678-A719-1E414B0D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43150"/>
            <a:ext cx="190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知识库管理</a:t>
            </a:r>
          </a:p>
        </p:txBody>
      </p:sp>
      <p:sp>
        <p:nvSpPr>
          <p:cNvPr id="8" name="text-42-665">
            <a:extLst xmlns:a="http://schemas.openxmlformats.org/drawingml/2006/main">
              <a:ext uri="{FF2B5EF4-FFF2-40B4-BE49-F238E27FC236}">
                <a16:creationId xmlns:a16="http://schemas.microsoft.com/office/drawing/2014/main" id="{20EB4AE9-FD93-4685-B1F0-7DA76618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262"/>
                </a:solidFill>
                <a:latin typeface="Microsoft YaHei"/>
                <a:ea typeface="Microsoft YaHei"/>
                <a:cs typeface="Microsoft YaHei"/>
              </a:defRPr>
            </a:pPr>
            <a:r>
              <a:t>验证：pytest · verify_frontend_contracts.py · verify_mobile_portrait.js</a:t>
            </a:r>
          </a:p>
        </p:txBody>
      </p:sp>
      <p:sp>
        <p:nvSpPr>
          <p:cNvPr id="9" name="text-1180-665">
            <a:extLst xmlns:a="http://schemas.openxmlformats.org/drawingml/2006/main">
              <a:ext uri="{FF2B5EF4-FFF2-40B4-BE49-F238E27FC236}">
                <a16:creationId xmlns:a16="http://schemas.microsoft.com/office/drawing/2014/main" id="{905E5782-A4F7-4396-9941-F616CD5C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262"/>
                </a:solidFill>
                <a:latin typeface="Microsoft YaHei"/>
                <a:ea typeface="Microsoft YaHei"/>
                <a:cs typeface="Microsoft YaHei"/>
              </a:defRPr>
            </a:pPr>
            <a:r>
              <a:t>07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70ed6bcdfe4b6e"/>
          <a:stretch xmlns:a="http://schemas.openxmlformats.org/drawingml/2006/main"/>
        </p:blipFill>
        <p:spPr>
          <a:xfrm xmlns:a="http://schemas.openxmlformats.org/drawingml/2006/main">
            <a:off x="2539557" y="2686050"/>
            <a:ext cx="1207386" cy="3105150"/>
          </a:xfrm>
          <a:prstGeom xmlns:a="http://schemas.openxmlformats.org/drawingml/2006/main" prst="roundRect">
            <a:avLst>
              <a:gd name="adj" fmla="val 667"/>
            </a:avLst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46c9d8e2e84022"/>
          <a:stretch xmlns:a="http://schemas.openxmlformats.org/drawingml/2006/main"/>
        </p:blipFill>
        <p:spPr>
          <a:xfrm xmlns:a="http://schemas.openxmlformats.org/drawingml/2006/main">
            <a:off x="8293228" y="2686050"/>
            <a:ext cx="1434844" cy="3105150"/>
          </a:xfrm>
          <a:prstGeom xmlns:a="http://schemas.openxmlformats.org/drawingml/2006/main" prst="roundRect">
            <a:avLst>
              <a:gd name="adj" fmla="val 667"/>
            </a:avLst>
          </a:prstGeom>
        </p:spPr>
      </p:pic>
    </p:spTree>
    <p:extLst>
      <p:ext uri="{BB962C8B-B14F-4D97-AF65-F5344CB8AC3E}">
        <p14:creationId xmlns:p14="http://schemas.microsoft.com/office/powerpoint/2010/main" val="4001697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42-42">
            <a:extLst xmlns:a="http://schemas.openxmlformats.org/drawingml/2006/main">
              <a:ext uri="{FF2B5EF4-FFF2-40B4-BE49-F238E27FC236}">
                <a16:creationId xmlns:a16="http://schemas.microsoft.com/office/drawing/2014/main" id="{6475CA0B-A15F-41A1-9E94-F43C2840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381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95136"/>
                </a:solidFill>
                <a:latin typeface="Microsoft YaHei"/>
                <a:ea typeface="Microsoft YaHei"/>
                <a:cs typeface="Microsoft YaHei"/>
              </a:defRPr>
            </a:pPr>
            <a:r>
              <a:t>本地交付</a:t>
            </a:r>
          </a:p>
        </p:txBody>
      </p:sp>
      <p:sp>
        <p:nvSpPr>
          <p:cNvPr id="2" name="text-42-170">
            <a:extLst xmlns:a="http://schemas.openxmlformats.org/drawingml/2006/main">
              <a:ext uri="{FF2B5EF4-FFF2-40B4-BE49-F238E27FC236}">
                <a16:creationId xmlns:a16="http://schemas.microsoft.com/office/drawing/2014/main" id="{B42FC0D8-ECFD-4148-B984-252D7D43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723900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评委拿到代码，
即可复现完整链路</a:t>
            </a:r>
          </a:p>
        </p:txBody>
      </p:sp>
      <p:sp>
        <p:nvSpPr>
          <p:cNvPr id="3" name="text-42-470">
            <a:extLst xmlns:a="http://schemas.openxmlformats.org/drawingml/2006/main">
              <a:ext uri="{FF2B5EF4-FFF2-40B4-BE49-F238E27FC236}">
                <a16:creationId xmlns:a16="http://schemas.microsoft.com/office/drawing/2014/main" id="{D90D312C-FF93-4FB7-B902-03E5B4BD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3143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95136"/>
                </a:solidFill>
                <a:latin typeface="Microsoft YaHei"/>
                <a:ea typeface="Microsoft YaHei"/>
                <a:cs typeface="Microsoft YaHei"/>
              </a:defRPr>
            </a:pPr>
            <a:r>
              <a:t>start.bat</a:t>
            </a:r>
          </a:p>
        </p:txBody>
      </p:sp>
      <p:sp>
        <p:nvSpPr>
          <p:cNvPr id="4" name="text-42-548">
            <a:extLst xmlns:a="http://schemas.openxmlformats.org/drawingml/2006/main">
              <a:ext uri="{FF2B5EF4-FFF2-40B4-BE49-F238E27FC236}">
                <a16:creationId xmlns:a16="http://schemas.microsoft.com/office/drawing/2014/main" id="{61A89665-2735-480C-AD87-6A5F0DA2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9055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262"/>
                </a:solidFill>
                <a:latin typeface="Microsoft YaHei"/>
                <a:ea typeface="Microsoft YaHei"/>
                <a:cs typeface="Microsoft YaHei"/>
              </a:defRPr>
            </a:pPr>
            <a:r>
              <a:t>游客入口  http://127.0.0.1:8000/
部署说明  docs/LOCAL_DELIVERY_GUIDE.md</a:t>
            </a:r>
          </a:p>
        </p:txBody>
      </p:sp>
      <p:sp>
        <p:nvSpPr>
          <p:cNvPr id="5" name="text-760-590">
            <a:extLst xmlns:a="http://schemas.openxmlformats.org/drawingml/2006/main">
              <a:ext uri="{FF2B5EF4-FFF2-40B4-BE49-F238E27FC236}">
                <a16:creationId xmlns:a16="http://schemas.microsoft.com/office/drawing/2014/main" id="{0650CCFB-97A9-46A3-BE08-7DC7C74C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19750"/>
            <a:ext cx="4191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26262"/>
                </a:solidFill>
                <a:latin typeface="Microsoft YaHei"/>
                <a:ea typeface="Microsoft YaHei"/>
                <a:cs typeface="Microsoft YaHei"/>
              </a:defRPr>
            </a:pPr>
            <a:r>
              <a:t>边界清楚，比假装全能更可交付。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c4af6e9b7b4d10"/>
          <a:stretch xmlns:a="http://schemas.openxmlformats.org/drawingml/2006/main"/>
        </p:blipFill>
        <p:spPr>
          <a:xfrm xmlns:a="http://schemas.openxmlformats.org/drawingml/2006/main">
            <a:off x="8911558" y="704850"/>
            <a:ext cx="1512635" cy="4095750"/>
          </a:xfrm>
          <a:prstGeom xmlns:a="http://schemas.openxmlformats.org/drawingml/2006/main" prst="roundRect">
            <a:avLst>
              <a:gd name="adj" fmla="val 870"/>
            </a:avLst>
          </a:prstGeom>
        </p:spPr>
      </p:pic>
    </p:spTree>
    <p:extLst>
      <p:ext uri="{BB962C8B-B14F-4D97-AF65-F5344CB8AC3E}">
        <p14:creationId xmlns:p14="http://schemas.microsoft.com/office/powerpoint/2010/main" val="13644955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2026-07-18T14:50:48.5510000Z</dcterms:created>
  <dcterms:modified xsi:type="dcterms:W3CDTF">2026-07-18T14:50:48.5510000Z</dcterms:modified>
</coreProperties>
</file>